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025" y="2497455"/>
            <a:ext cx="10607040" cy="247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rPr sz="3200">
                <a:solidFill>
                  <a:schemeClr val="accent6">
                    <a:lumMod val="75000"/>
                  </a:schemeClr>
                </a:solidFill>
              </a:rPr>
              <a:t>Multi-Factor Momentum Quant Trading System</a:t>
            </a:r>
            <a:endParaRPr sz="3200">
              <a:solidFill>
                <a:schemeClr val="accent6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——</a:t>
            </a:r>
            <a:r>
              <a:rPr>
                <a:solidFill>
                  <a:schemeClr val="accent6">
                    <a:lumMod val="75000"/>
                  </a:schemeClr>
                </a:solidFill>
              </a:rPr>
              <a:t>BTC/USDT · Intraday Strategy · End-to-End Automation</a:t>
            </a:r>
            <a:endParaRPr>
              <a:solidFill>
                <a:schemeClr val="accent6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Team:</a:t>
            </a:r>
            <a:r>
              <a:rPr lang="en-US"/>
              <a:t> Group 5</a:t>
            </a:r>
            <a:endParaRPr lang="en-US"/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Course: MFE5210 · CUHK(SZ) · 2026 Spring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Agenda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1. Market Background and Motivation 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2. Strategy Design: Multi-Factor Momentum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3. System Architecture 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4. Backtest Results 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5. Live Demo: Real-Time Dashboard 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6. TCA: Transaction Cost Analysis </a:t>
            </a:r>
          </a:p>
          <a:p>
            <a:pPr>
              <a:spcAft>
                <a:spcPts val="800"/>
              </a:spcAft>
              <a:defRPr sz="2400" b="1">
                <a:solidFill>
                  <a:srgbClr val="ECF4FF"/>
                </a:solidFill>
              </a:defRPr>
            </a:pPr>
            <a:r>
              <a:t>7. Conclusion and Future Work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Why Crypto and Multi-Factor Strategy?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607040" cy="3928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rPr sz="2800"/>
              <a:t>Market Selection: BTC/USDT</a:t>
            </a:r>
            <a:endParaRPr sz="2800"/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24/7 continuous trading, ideal for intraday strategy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Strong market depth and liquidity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Fully open data with free API access</a:t>
            </a: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rPr sz="2800"/>
              <a:t>Strategy Selection: Multi-Factor Momentum</a:t>
            </a:r>
            <a:endParaRPr sz="2800"/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Single indicator signals are often noisy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Cross-validation across factors lowers false signals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Momentum effects are validated by crypto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46177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2AE7AE"/>
                </a:solidFill>
              </a:defRPr>
            </a:pPr>
            <a:r>
              <a:rPr sz="2400"/>
              <a:t>We do not guess; we let data speak.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Strategy Core: Three Factors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ECF4FF"/>
                </a:solidFill>
              </a:defRPr>
            </a:pPr>
            <a:r>
              <a:t>Core idea: Act only when combined score exceeds threshold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27835"/>
          <a:ext cx="7851140" cy="240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431290"/>
                <a:gridCol w="2494280"/>
                <a:gridCol w="1962785"/>
              </a:tblGrid>
              <a:tr h="6013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1800"/>
                        <a:t>Factor</a:t>
                      </a:r>
                      <a:endParaRPr sz="18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1800"/>
                        <a:t>Weight</a:t>
                      </a:r>
                      <a:endParaRPr sz="18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1800"/>
                        <a:t>How It Is Calculated</a:t>
                      </a:r>
                      <a:endParaRPr sz="18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1800"/>
                        <a:t>When It Adds Score</a:t>
                      </a:r>
                      <a:endParaRPr sz="1800"/>
                    </a:p>
                  </a:txBody>
                  <a:tcPr>
                    <a:solidFill>
                      <a:srgbClr val="00C9F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Price Momentum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40%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20-min return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Sustained rise adds, drop subtracts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Volume</a:t>
                      </a:r>
                      <a:endParaRPr sz="16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30%</a:t>
                      </a:r>
                      <a:endParaRPr sz="16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Current volume / 20-bar average</a:t>
                      </a:r>
                      <a:endParaRPr sz="16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Price up + volume up gets bonus</a:t>
                      </a:r>
                      <a:endParaRPr sz="16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Volatility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30%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Price standard deviation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600"/>
                        <a:t>Stable regime adds, violent moves reduce</a:t>
                      </a:r>
                      <a:endParaRPr sz="16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48056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  <a:r>
              <a:t>Trigger Rules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Combined score &gt; +0.4 -&gt; BUY (use 95% capital)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Combined score &lt; -0.4 -&gt; SELL (flat position)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Otherwise -&gt;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2AE7AE"/>
                </a:solidFill>
              </a:defRPr>
            </a:pPr>
            <a:r>
              <a:t>Thresholds are selected by 36-grid search for best Sharpe.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System Architecture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7775"/>
            <a:ext cx="914400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Backtest Performance: Key Metrics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  <a:r>
              <a:t>Period: 2026-04-12 to 2026-04-19 (7 days, 10,082 bars)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3845" y="1684020"/>
          <a:ext cx="8576310" cy="314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8770"/>
                <a:gridCol w="2858770"/>
                <a:gridCol w="285877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Metric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Our Strategy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Buy-and-Hold Benchmark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Total Return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+4.96%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+5.90%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Sharpe Ratio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6.53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~1.2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Max Drawdown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4.64%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9.8%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Win Rate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60%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-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Profit/Loss Ratio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6.06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-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035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2AE7AE"/>
                </a:solidFill>
              </a:defRPr>
            </a:pPr>
            <a:r>
              <a:t>Risk-adjusted performance is much stronger than benchmark.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Backtest Performance: Equity Curve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785" y="5697220"/>
            <a:ext cx="10607040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Green line: Quant X strategy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Gray line: Buy-and-Hold benchmark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Markers: buy/sell timestamps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</a:p>
        </p:txBody>
      </p:sp>
      <p:pic>
        <p:nvPicPr>
          <p:cNvPr id="7" name="图片 6" descr="equity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0145"/>
            <a:ext cx="9144000" cy="4537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Live Demo: GUI Dashboard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6895" y="1243330"/>
            <a:ext cx="10607040" cy="4502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t>Live demo: open dashboard in browser</a:t>
            </a: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t>Dashboard includes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Real-time account value and PnL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PnL curve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Current position status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Recent order records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Backtest analysis page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TCA analysis page</a:t>
            </a: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t>URL: </a:t>
            </a:r>
            <a:r>
              <a:rPr lang="en-US" altLang="zh-CN"/>
              <a:t>https://mfe5210-quantx-capital-grkcuzrfm6nj6p2hqm9u5q.streamlit.app/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Transaction Cost Analysis (TCA)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CF4FF"/>
                </a:solidFill>
              </a:defRPr>
            </a:pPr>
            <a:r>
              <a:t>What is TCA? It quantifies hidden trading costs per transaction.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737360"/>
          <a:ext cx="7816215" cy="254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405"/>
                <a:gridCol w="2605405"/>
                <a:gridCol w="2605405"/>
              </a:tblGrid>
              <a:tr h="63309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000"/>
                        <a:t>Cost Type</a:t>
                      </a:r>
                      <a:endParaRPr sz="20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000"/>
                        <a:t>Amount (This Backtest)</a:t>
                      </a:r>
                      <a:endParaRPr sz="20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000"/>
                        <a:t>Description</a:t>
                      </a:r>
                      <a:endParaRPr sz="2000"/>
                    </a:p>
                  </a:txBody>
                  <a:tcPr>
                    <a:solidFill>
                      <a:srgbClr val="00C9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Fee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~50 USDT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Binance fee at 0.1% notional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Estimated Slippage</a:t>
                      </a:r>
                      <a:endParaRPr sz="18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~25 USDT</a:t>
                      </a:r>
                      <a:endParaRPr sz="18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Price move during execution</a:t>
                      </a:r>
                      <a:endParaRPr sz="18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Total Cost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~75 USDT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1800"/>
                        <a:t>About 6% of total profit</a:t>
                      </a:r>
                      <a:endParaRPr sz="18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846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2AE7AE"/>
                </a:solidFill>
              </a:defRPr>
            </a:pPr>
            <a:r>
              <a:t>Conclusion: Cost/profit ratio is about 6%, within reasonable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Risk Control Framework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33855"/>
            <a:ext cx="8353425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Team Contribution and Tech Stack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  <a:r>
              <a:t>Tech stack: Python 3.10 · SQLite · ccxt · Streamlit · pandas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7869555" cy="459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185"/>
                <a:gridCol w="2623185"/>
                <a:gridCol w="2623185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Member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Module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162B"/>
                          </a:solidFill>
                        </a:defRPr>
                      </a:pPr>
                      <a:r>
                        <a:rPr sz="2400"/>
                        <a:t>Deliverables</a:t>
                      </a:r>
                      <a:endParaRPr sz="2400"/>
                    </a:p>
                  </a:txBody>
                  <a:tcPr>
                    <a:solidFill>
                      <a:srgbClr val="00C9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Member C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Data Layer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Binance ingestion, 5 DB tables, data quality checks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Member A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Strategy Layer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3-factor strategy, backtest engine, 36-grid tuning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Member B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Execution Layer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OMS, paper trading engine, risk control, TCA</a:t>
                      </a:r>
                      <a:endParaRPr sz="2000"/>
                    </a:p>
                  </a:txBody>
                  <a:tcPr>
                    <a:solidFill>
                      <a:srgbClr val="101E3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Member D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Presentation Layer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CF4FF"/>
                          </a:solidFill>
                        </a:defRPr>
                      </a:pPr>
                      <a:r>
                        <a:rPr sz="2000"/>
                        <a:t>Streamlit GUI, integration, docs, presentation</a:t>
                      </a:r>
                      <a:endParaRPr sz="2000"/>
                    </a:p>
                  </a:txBody>
                  <a:tcPr>
                    <a:solidFill>
                      <a:srgbClr val="18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Conclusion and Future Work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607040" cy="485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  <a:r>
              <a:rPr sz="2800"/>
              <a:t>Project deliverables</a:t>
            </a:r>
            <a:endParaRPr sz="2800"/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End-to-end quant system (data -&gt; strategy -&gt; execution -&gt; dashboard)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In-house backtest framework (Sharpe 6.53, max drawdown 4.64%)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Real-time paper trading on Binance market data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Streamlit real-time monitoring dashboard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Transaction cost analysis module</a:t>
            </a:r>
          </a:p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ECF4FF"/>
                </a:solidFill>
              </a:defRPr>
            </a:pPr>
            <a:r>
              <a:rPr sz="2800"/>
              <a:t>Future improvements</a:t>
            </a:r>
            <a:endParaRPr sz="2800"/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Add ML-based signal models (LSTM / XGBoost)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Expand to multi-asset trading (ETH / SOL)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Connect to real exchange APIs for live trading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Add more factors: order book depth, funding rate, on-chain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73152"/>
            <a:ext cx="201168" cy="2011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Q&amp;A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ECF4FF"/>
                </a:solidFill>
              </a:defRPr>
            </a:pPr>
            <a:r>
              <a:t>Quant X Capital</a:t>
            </a:r>
          </a:p>
          <a:p>
            <a:pPr>
              <a:spcAft>
                <a:spcPts val="800"/>
              </a:spcAft>
              <a:defRPr sz="3400" b="1">
                <a:solidFill>
                  <a:srgbClr val="ECF4FF"/>
                </a:solidFill>
              </a:defRPr>
            </a:pPr>
          </a:p>
          <a:p>
            <a:pPr>
              <a:spcAft>
                <a:spcPts val="800"/>
              </a:spcAft>
              <a:defRPr sz="3400" b="1">
                <a:solidFill>
                  <a:srgbClr val="ECF4FF"/>
                </a:solidFill>
              </a:defRPr>
            </a:pPr>
            <a:r>
              <a:t>Thank you!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3312</Words>
  <Application>WPS 演示</Application>
  <PresentationFormat>On-screen Show (4:3)</PresentationFormat>
  <Paragraphs>225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谢一</cp:lastModifiedBy>
  <cp:revision>3</cp:revision>
  <dcterms:created xsi:type="dcterms:W3CDTF">2013-01-27T09:14:00Z</dcterms:created>
  <dcterms:modified xsi:type="dcterms:W3CDTF">2026-04-21T09:14:07Z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124476DFC03E4CC7979CE64F8B91AB7F_12</vt:lpwstr>
  </property>
</Properties>
</file>